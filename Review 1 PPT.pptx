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1" r:id="rId1"/>
    <p:sldMasterId id="2147483747" r:id="rId2"/>
  </p:sldMasterIdLst>
  <p:notesMasterIdLst>
    <p:notesMasterId r:id="rId16"/>
  </p:notesMasterIdLst>
  <p:sldIdLst>
    <p:sldId id="386" r:id="rId3"/>
    <p:sldId id="380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385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DDEDF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12" autoAdjust="0"/>
    <p:restoredTop sz="94660"/>
  </p:normalViewPr>
  <p:slideViewPr>
    <p:cSldViewPr snapToGrid="0">
      <p:cViewPr varScale="1">
        <p:scale>
          <a:sx n="91" d="100"/>
          <a:sy n="91" d="100"/>
        </p:scale>
        <p:origin x="16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9866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837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DAB3-8BD5-D65F-C10C-6DC35AAD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8142A3-48D5-725D-85FB-748559583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FEEA1C-2DA2-34E3-FF6C-4AD14C350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A0C508-5E36-C5FB-F080-D2E43FE7A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6756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79E0-E1E9-523E-3444-0BF9C386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0BD44B-6B81-46FF-B488-44C199669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1D5F4A-EDE4-1185-6589-DC3651897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96392B-D62E-4C9A-9762-372430D79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0691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DFA1-5BC9-C5C9-8FB9-6ACF824B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B16B2F-67C2-1428-6888-2812E74F9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BB7D2-A875-4A4E-7080-788F3935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5FA610-6C11-2973-3E1B-D64D4BF92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5609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20488-1AB0-91F3-3217-8A448E984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4D2C58-2CD0-9271-B8CA-D7BAF4D31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E8F2B0-21A5-7182-18D2-9CAFE2F22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5F8187-BF8D-CF0E-9208-87C186953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4971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596F-3175-E10A-1050-672C7E06D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6B99FC-4060-3B69-5A7E-E02C96C51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3050DF-5940-EF01-3A88-837335A2F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413FB3-0E75-E2F7-073E-D50CDEEE3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486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004E8-1376-DA71-C966-65E3B044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1A53C4-64FF-A8D8-9584-B8921E94D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D4F94C-DDC7-9F57-74BA-4526B47E5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2D9339-4162-FD86-4F50-3C7135C9E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6190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EA47-D6AF-B29E-4CAF-E3E00D25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CE5EB6-08D6-7B89-CAF8-9B81434EA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8CF64A-1EC4-32F2-0B7D-531DB00EC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8D8B92-271C-0F60-8524-7A4BAA124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6704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248B-E6F0-F587-F4E3-F4B1A90D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615922-EF0C-B5B3-100C-59F62088B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F21019-627C-8266-D842-ECC1B9795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67F176-2143-6B44-D527-3473FD5A2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2153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769FB-5551-413A-EF36-BAC69483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947319-A669-77A4-7845-0437688E6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D96677-D775-BAB8-D8CB-9F919F65C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DB5D7E-EE8E-F236-CE04-1A1784DF8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905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FBF6-5346-3872-E7F8-4DB87B58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38629F-FAA6-6DD7-97E6-2DAEDA125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8DE904-4B6D-399B-1F01-CEBB3C83A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7D6F32-AF4B-8798-CB15-07E13DB0B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8556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647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 defTabSz="914400"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27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 defTabSz="914400"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90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638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451786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12570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50793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4853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41517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60203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4712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57287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5483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36916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41513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9294030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065387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442358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04522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538940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31326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029373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13102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02136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3020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06786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700235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01811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832059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827413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061300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2627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38489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652599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085742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2554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437396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4797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192641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504426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28111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390486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913957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730202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772066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403969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122072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180807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67086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96927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040161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930661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784719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1" y="1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8109310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351222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895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42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8.xml"/><Relationship Id="rId53" Type="http://schemas.openxmlformats.org/officeDocument/2006/relationships/slideLayout" Target="../slideLayouts/slideLayout56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4" Type="http://schemas.openxmlformats.org/officeDocument/2006/relationships/slideLayout" Target="../slideLayouts/slideLayout47.xml"/><Relationship Id="rId52" Type="http://schemas.openxmlformats.org/officeDocument/2006/relationships/slideLayout" Target="../slideLayouts/slideLayout55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43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51.xml"/><Relationship Id="rId8" Type="http://schemas.openxmlformats.org/officeDocument/2006/relationships/slideLayout" Target="../slideLayouts/slideLayout11.xml"/><Relationship Id="rId51" Type="http://schemas.openxmlformats.org/officeDocument/2006/relationships/slideLayout" Target="../slideLayouts/slideLayout54.xml"/><Relationship Id="rId3" Type="http://schemas.openxmlformats.org/officeDocument/2006/relationships/slideLayout" Target="../slideLayouts/slideLayout6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41.xml"/><Relationship Id="rId4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23.xml"/><Relationship Id="rId41" Type="http://schemas.openxmlformats.org/officeDocument/2006/relationships/slideLayout" Target="../slideLayouts/slideLayout44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09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908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654" r:id="rId18"/>
    <p:sldLayoutId id="2147483656" r:id="rId19"/>
    <p:sldLayoutId id="2147483657" r:id="rId20"/>
    <p:sldLayoutId id="2147483658" r:id="rId21"/>
    <p:sldLayoutId id="2147483659" r:id="rId22"/>
    <p:sldLayoutId id="2147483660" r:id="rId23"/>
    <p:sldLayoutId id="2147483661" r:id="rId24"/>
    <p:sldLayoutId id="2147483662" r:id="rId25"/>
    <p:sldLayoutId id="2147483663" r:id="rId26"/>
    <p:sldLayoutId id="2147483664" r:id="rId27"/>
    <p:sldLayoutId id="2147483665" r:id="rId28"/>
    <p:sldLayoutId id="2147483666" r:id="rId29"/>
    <p:sldLayoutId id="2147483667" r:id="rId30"/>
    <p:sldLayoutId id="2147483668" r:id="rId31"/>
    <p:sldLayoutId id="2147483669" r:id="rId32"/>
    <p:sldLayoutId id="2147483670" r:id="rId33"/>
    <p:sldLayoutId id="2147483671" r:id="rId34"/>
    <p:sldLayoutId id="2147483672" r:id="rId35"/>
    <p:sldLayoutId id="2147483673" r:id="rId36"/>
    <p:sldLayoutId id="2147483674" r:id="rId37"/>
    <p:sldLayoutId id="2147483675" r:id="rId38"/>
    <p:sldLayoutId id="2147483676" r:id="rId39"/>
    <p:sldLayoutId id="2147483677" r:id="rId40"/>
    <p:sldLayoutId id="2147483678" r:id="rId41"/>
    <p:sldLayoutId id="2147483679" r:id="rId42"/>
    <p:sldLayoutId id="2147483680" r:id="rId43"/>
    <p:sldLayoutId id="2147483681" r:id="rId44"/>
    <p:sldLayoutId id="2147483682" r:id="rId45"/>
    <p:sldLayoutId id="2147483683" r:id="rId46"/>
    <p:sldLayoutId id="2147483684" r:id="rId47"/>
    <p:sldLayoutId id="2147483685" r:id="rId48"/>
    <p:sldLayoutId id="2147483686" r:id="rId49"/>
    <p:sldLayoutId id="2147483687" r:id="rId50"/>
    <p:sldLayoutId id="2147483688" r:id="rId51"/>
    <p:sldLayoutId id="2147483689" r:id="rId52"/>
    <p:sldLayoutId id="2147483690" r:id="rId5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074128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docs.python.org/" TargetMode="External"/><Relationship Id="rId4" Type="http://schemas.openxmlformats.org/officeDocument/2006/relationships/hyperlink" Target="https://ieeexplore.ieee.org/document/7134753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1679026B-9887-4CF3-8510-F143C88E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343" y="5621"/>
            <a:ext cx="6934201" cy="10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C1438EC2-6899-45B9-854F-26F54A6CE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97" y="2355431"/>
            <a:ext cx="10830187" cy="539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2pPr>
            <a:lvl3pPr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3pPr>
            <a:lvl4pPr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4pPr>
            <a:lvl5pPr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5pPr>
            <a:lvl6pPr marL="457189"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6pPr>
            <a:lvl7pPr marL="914377"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7pPr>
            <a:lvl8pPr marL="1371566"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8pPr>
            <a:lvl9pPr marL="1828754"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House Price Prediction using Newton Raphson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EB97C-39AC-4F38-839C-97B26E38574C}"/>
              </a:ext>
            </a:extLst>
          </p:cNvPr>
          <p:cNvSpPr txBox="1"/>
          <p:nvPr/>
        </p:nvSpPr>
        <p:spPr>
          <a:xfrm>
            <a:off x="2324230" y="5517004"/>
            <a:ext cx="76068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Chetan A 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Nagabhushan S V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HOD, Professor / Associate Professor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A4456-D45E-4B39-9A91-11DF8DEB01DA}"/>
              </a:ext>
            </a:extLst>
          </p:cNvPr>
          <p:cNvSpPr txBox="1"/>
          <p:nvPr/>
        </p:nvSpPr>
        <p:spPr>
          <a:xfrm>
            <a:off x="506026" y="1084052"/>
            <a:ext cx="11221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Machine Learning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BE9812B-5AE3-4E2A-A6C7-28317F3C5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83266"/>
              </p:ext>
            </p:extLst>
          </p:nvPr>
        </p:nvGraphicFramePr>
        <p:xfrm>
          <a:off x="1753340" y="3308778"/>
          <a:ext cx="872674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687">
                  <a:extLst>
                    <a:ext uri="{9D8B030D-6E8A-4147-A177-3AD203B41FA5}">
                      <a16:colId xmlns:a16="http://schemas.microsoft.com/office/drawing/2014/main" val="18927778"/>
                    </a:ext>
                  </a:extLst>
                </a:gridCol>
                <a:gridCol w="2181687">
                  <a:extLst>
                    <a:ext uri="{9D8B030D-6E8A-4147-A177-3AD203B41FA5}">
                      <a16:colId xmlns:a16="http://schemas.microsoft.com/office/drawing/2014/main" val="523957047"/>
                    </a:ext>
                  </a:extLst>
                </a:gridCol>
                <a:gridCol w="2181687">
                  <a:extLst>
                    <a:ext uri="{9D8B030D-6E8A-4147-A177-3AD203B41FA5}">
                      <a16:colId xmlns:a16="http://schemas.microsoft.com/office/drawing/2014/main" val="905113929"/>
                    </a:ext>
                  </a:extLst>
                </a:gridCol>
                <a:gridCol w="2181687">
                  <a:extLst>
                    <a:ext uri="{9D8B030D-6E8A-4147-A177-3AD203B41FA5}">
                      <a16:colId xmlns:a16="http://schemas.microsoft.com/office/drawing/2014/main" val="2887628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Student Name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USN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Section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Group no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839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Chetan M D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1BY25AI061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AIML 01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GB" sz="2800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800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26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Ayush Kumar Yadav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1BY25AI043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AIML 01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480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Geetika Devi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1TD25AI030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AIML 01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4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Vaishnavi G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1BY25AI265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Cascadia Code SemiBold" panose="020B0609020000020004" pitchFamily="49" charset="0"/>
                          <a:cs typeface="Times New Roman" panose="02020603050405020304" pitchFamily="18" charset="0"/>
                        </a:rPr>
                        <a:t>AIML 01</a:t>
                      </a:r>
                      <a:endParaRPr lang="en-IN" dirty="0">
                        <a:latin typeface="Times New Roman" panose="02020603050405020304" pitchFamily="18" charset="0"/>
                        <a:ea typeface="Cascadia Code SemiBold" panose="020B06090200000200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1823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37109" y="1759720"/>
            <a:ext cx="9042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solidFill>
                  <a:srgbClr val="FF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1BPRJ208: Inter Disciplinary Project Review-1 Presentation </a:t>
            </a:r>
            <a:endParaRPr lang="en-IN" sz="2000" b="1" i="1" dirty="0">
              <a:solidFill>
                <a:srgbClr val="FF0000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54516" y="2934379"/>
            <a:ext cx="23849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Date:  30/04/2026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4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BC38CEF-7F08-499E-96E1-BFB16D2DF889}"/>
              </a:ext>
            </a:extLst>
          </p:cNvPr>
          <p:cNvSpPr txBox="1"/>
          <p:nvPr/>
        </p:nvSpPr>
        <p:spPr>
          <a:xfrm>
            <a:off x="569061" y="334229"/>
            <a:ext cx="257681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3DADD-73F4-4752-86F9-A1FAD89C8F4C}"/>
              </a:ext>
            </a:extLst>
          </p:cNvPr>
          <p:cNvSpPr txBox="1"/>
          <p:nvPr/>
        </p:nvSpPr>
        <p:spPr>
          <a:xfrm>
            <a:off x="569061" y="1146969"/>
            <a:ext cx="6356410" cy="511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marR="0" lvl="0" indent="-457189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189" marR="0" lvl="0" indent="-457189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/Objectives</a:t>
            </a: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Architecture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Interdisciplinary Aspect</a:t>
            </a: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Conclusion/Expected outcomes</a:t>
            </a: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goals mapped with the project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156684" y="6262215"/>
            <a:ext cx="16979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343009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A65C-DE64-7A11-E53C-6D626196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C71E23-EDA5-B3E6-762B-5040F450F172}"/>
              </a:ext>
            </a:extLst>
          </p:cNvPr>
          <p:cNvSpPr txBox="1"/>
          <p:nvPr/>
        </p:nvSpPr>
        <p:spPr>
          <a:xfrm>
            <a:off x="453651" y="410436"/>
            <a:ext cx="3432488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Introduction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0E3A07B1-B982-8E65-CE7E-4717B8CB2523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423EB-334E-2AF0-93BC-746227C5DB6F}"/>
              </a:ext>
            </a:extLst>
          </p:cNvPr>
          <p:cNvSpPr txBox="1"/>
          <p:nvPr/>
        </p:nvSpPr>
        <p:spPr>
          <a:xfrm>
            <a:off x="453651" y="1609861"/>
            <a:ext cx="110077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project?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Predicting house prices is a critical application in real estate and financial decision-making for buyers, sellers, and investors.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work?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uses a simple machine learning approach based on linear regression to establish a relationship between price and house size with all other parameters.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it unique?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standard methods, it uses the Newton-Raphson numerical optimization technique to minimize the prediction error.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Newton-Raphson?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utilizes both first and second derivatives, allowing for much faster convergence to the optimal solution compared to gradient-based methods.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FF84AF-515A-0A72-B26B-C0BEB09E5288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222650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37C0-8BAD-36BB-920E-FD1A330C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B8A4569-C57A-494A-6ACF-CDE3C0FF40A7}"/>
              </a:ext>
            </a:extLst>
          </p:cNvPr>
          <p:cNvSpPr txBox="1"/>
          <p:nvPr/>
        </p:nvSpPr>
        <p:spPr>
          <a:xfrm>
            <a:off x="394284" y="403057"/>
            <a:ext cx="595757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Problem Identification 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8D19FF48-2E9B-F578-568F-1C23F21785EF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5A7EE-ACD8-D1AE-FB59-9F1F9E60A1EC}"/>
              </a:ext>
            </a:extLst>
          </p:cNvPr>
          <p:cNvSpPr txBox="1"/>
          <p:nvPr/>
        </p:nvSpPr>
        <p:spPr>
          <a:xfrm>
            <a:off x="394284" y="1653836"/>
            <a:ext cx="113251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Problem: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 simple, beginner-friendly predictive model that estimates house prices using the Newton-Raphson method.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 in Existing Systems: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gradient descent requires multiple iterations, and its convergence can be very slow depending on the chosen learning rate.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 faster, more efficient optimization method that is simpler to implement and requires tuning fewer parameters for small datasets.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84A0AB-702D-7FE3-2477-58DA9FB10B9A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140922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BEDC-9345-1655-D05A-DA1E15C9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BEDA5B3-8D62-D33E-8B53-8CA5FF8EBDDF}"/>
              </a:ext>
            </a:extLst>
          </p:cNvPr>
          <p:cNvSpPr txBox="1"/>
          <p:nvPr/>
        </p:nvSpPr>
        <p:spPr>
          <a:xfrm>
            <a:off x="453651" y="365737"/>
            <a:ext cx="4672666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Literature Survey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079819BE-3C88-B468-28E1-68972CBD2EB7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4158D-DB26-E917-1298-C2D4539EDB69}"/>
              </a:ext>
            </a:extLst>
          </p:cNvPr>
          <p:cNvSpPr txBox="1"/>
          <p:nvPr/>
        </p:nvSpPr>
        <p:spPr>
          <a:xfrm>
            <a:off x="343950" y="1509193"/>
            <a:ext cx="113251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1: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Study on Linear Regression for House Price Prediction , ICAC3N, 2022.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using gradient descent.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requires multiple iterations and suffers from slow convergence rates based on learning parameters.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2: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of Newton-Raphson Method in Optimization Problems, IEEE,2016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Numerical methods research study.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Newton-Raphson method provides a more efficient optimization technique that is simpler and needs fewer tuned parameters for smaller datasets.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60DCB6-A2EA-3413-4C90-7C2ACCF00EA1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265131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7421-EA2F-33BD-63B6-C47973FB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CB49AF0-73E0-4237-B29E-1429232534B6}"/>
              </a:ext>
            </a:extLst>
          </p:cNvPr>
          <p:cNvSpPr txBox="1"/>
          <p:nvPr/>
        </p:nvSpPr>
        <p:spPr>
          <a:xfrm>
            <a:off x="394283" y="413266"/>
            <a:ext cx="742425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Objectives / Proposed Ideas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BD115AB6-8A22-B91F-E636-734077C2A0B7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BA19C-174E-D55A-9569-D8BCD1905555}"/>
              </a:ext>
            </a:extLst>
          </p:cNvPr>
          <p:cNvSpPr txBox="1"/>
          <p:nvPr/>
        </p:nvSpPr>
        <p:spPr>
          <a:xfrm>
            <a:off x="394283" y="1593083"/>
            <a:ext cx="113251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linear regression model where house price is predicted based on house size and other parameters.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parameters will be optimized using the Newton-Raphson method to improve convergence speed and demonstrate efficient learning with fewer iterations.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fundamentals of linear regression.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basic machine learning model.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error using mathematical techniques.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Newton-Raphson optimization and compare its efficiency with traditional methods.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B964D3-923A-8E77-6209-17EA23175BFF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385125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C148-C570-2E1C-3BCD-CD8C1E0C5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D6582BE-758A-B1AF-BA80-1E37384DBFF6}"/>
              </a:ext>
            </a:extLst>
          </p:cNvPr>
          <p:cNvSpPr txBox="1"/>
          <p:nvPr/>
        </p:nvSpPr>
        <p:spPr>
          <a:xfrm>
            <a:off x="394283" y="413266"/>
            <a:ext cx="742425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Methodology / Architecture 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5F0A645D-3B44-CC03-AC60-6E024D8E7B16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66DC9-B54B-4A13-3CAE-B3DBDC558362}"/>
              </a:ext>
            </a:extLst>
          </p:cNvPr>
          <p:cNvSpPr txBox="1"/>
          <p:nvPr/>
        </p:nvSpPr>
        <p:spPr>
          <a:xfrm>
            <a:off x="394283" y="1411306"/>
            <a:ext cx="1132513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Model: y = </a:t>
            </a:r>
            <a:r>
              <a:rPr lang="en-US" altLang="en-US" sz="2400" dirty="0">
                <a:latin typeface="Sylfaen" panose="010A0502050306030303" pitchFamily="18" charset="0"/>
                <a:cs typeface="Times New Roman" panose="02020603050405020304" pitchFamily="18" charset="0"/>
              </a:rPr>
              <a:t>∑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(where x = house size, locality, no. of rooms, y = predicted price, w = weight, b = bias).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Prediction Equation: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wx+b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Error Function: Error = </a:t>
            </a:r>
            <a:r>
              <a:rPr lang="en-US" altLang="en-US" sz="2400" dirty="0">
                <a:latin typeface="Sylfaen" panose="010A0502050306030303" pitchFamily="18" charset="0"/>
                <a:cs typeface="Times New Roman" panose="02020603050405020304" pitchFamily="18" charset="0"/>
              </a:rPr>
              <a:t>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Gradient (First Derivative): d(Error)/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-2</a:t>
            </a:r>
            <a:r>
              <a:rPr lang="en-US" altLang="en-US" sz="2400" dirty="0">
                <a:latin typeface="Sylfaen" panose="010A0502050306030303" pitchFamily="18" charset="0"/>
                <a:cs typeface="Times New Roman" panose="02020603050405020304" pitchFamily="18" charset="0"/>
              </a:rPr>
              <a:t> ∑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x(y -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Hessian (Second Derivative): d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(Error)/dw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en-US" altLang="en-US" sz="2400" dirty="0">
                <a:latin typeface="Sylfaen" panose="010A0502050306030303" pitchFamily="18" charset="0"/>
                <a:cs typeface="Times New Roman" panose="02020603050405020304" pitchFamily="18" charset="0"/>
              </a:rPr>
              <a:t> ∑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&amp; 7: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Newton-Raphson Update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Gradient/Hessian) and repeat the iteration until the error is minimized.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90C6C3-98FF-4FB8-6EA1-1F481C63BA27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117371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8690-2B94-5816-27F2-CC4482AF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EA9FDE3-516E-1E85-9D23-55A4A8A93A64}"/>
              </a:ext>
            </a:extLst>
          </p:cNvPr>
          <p:cNvSpPr txBox="1"/>
          <p:nvPr/>
        </p:nvSpPr>
        <p:spPr>
          <a:xfrm>
            <a:off x="394283" y="413266"/>
            <a:ext cx="742425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Interdisciplinary Aspect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C6C03902-C1D2-6CEA-0315-0AE6FA4942CA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38E952-59D9-8CA0-99F6-106F2010A083}"/>
              </a:ext>
            </a:extLst>
          </p:cNvPr>
          <p:cNvSpPr txBox="1"/>
          <p:nvPr/>
        </p:nvSpPr>
        <p:spPr>
          <a:xfrm>
            <a:off x="394283" y="1595864"/>
            <a:ext cx="113251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&amp; AI: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the machine learning model (Linear Regression) to analyze data and make automated predictions.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&amp; Calculus: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advanced numerical optimization (Newton-Raphson method) and applying first and second-order derivatives (Gradient and Hessian matrices) to minimize the error function.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Economics &amp; Real Estate: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Applying these technical concepts to solve real-world financial decision-making and property valuation problems.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0E021C-0BC2-4BD1-3B03-D8843A3504E6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282841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D8FD1-92C0-4F8F-2C1E-67DB5261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166DF66-99B1-5F40-6493-06804517106A}"/>
              </a:ext>
            </a:extLst>
          </p:cNvPr>
          <p:cNvSpPr txBox="1"/>
          <p:nvPr/>
        </p:nvSpPr>
        <p:spPr>
          <a:xfrm>
            <a:off x="394283" y="413266"/>
            <a:ext cx="742425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Tools &amp; Technologies 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B019E6D7-C256-EA69-73C8-690EF6EC9419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F28D7-2728-7AE3-C2B8-C3FC81518E8C}"/>
              </a:ext>
            </a:extLst>
          </p:cNvPr>
          <p:cNvSpPr txBox="1"/>
          <p:nvPr/>
        </p:nvSpPr>
        <p:spPr>
          <a:xfrm>
            <a:off x="394283" y="1720840"/>
            <a:ext cx="113251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NumPy library &amp;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VS Code and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computer system.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8GB RAM.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59A975-BED5-2C13-B377-550293F93AEF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330225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952D-D4F5-1444-EF05-BE614B2E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28AC584-0060-8334-558C-FE9131CEBF94}"/>
              </a:ext>
            </a:extLst>
          </p:cNvPr>
          <p:cNvSpPr txBox="1"/>
          <p:nvPr/>
        </p:nvSpPr>
        <p:spPr>
          <a:xfrm>
            <a:off x="394283" y="413266"/>
            <a:ext cx="888394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Conclusion / Expected Outcomes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7ED990F1-2E3E-0BFC-6C88-259BBF0075A6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1874F2-6378-C06A-5CD6-B0ED7169ADA3}"/>
              </a:ext>
            </a:extLst>
          </p:cNvPr>
          <p:cNvSpPr txBox="1"/>
          <p:nvPr/>
        </p:nvSpPr>
        <p:spPr>
          <a:xfrm>
            <a:off x="394283" y="1720840"/>
            <a:ext cx="113251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predictive model that effectively establishes a mathematical relationship between house size and price.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clear demonstration of how mathematical techniques can be applied to solve real-world problems in a simple and effective manner.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Newton-Raphson method successfully optimizes model parameters efficiently.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utilizing both first and second derivatives, the model achieves faster convergence compared to traditional methods like gradient descent.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04D3A6-AD92-6788-1433-464BAD6A8B49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259752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A3321-F426-E81B-BCB4-F2C8BC3F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9B9BFBC-3C01-E090-F3DA-A1BA4BB5BA5B}"/>
              </a:ext>
            </a:extLst>
          </p:cNvPr>
          <p:cNvSpPr txBox="1"/>
          <p:nvPr/>
        </p:nvSpPr>
        <p:spPr>
          <a:xfrm>
            <a:off x="394283" y="413266"/>
            <a:ext cx="943761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SDG Goals mapped with the project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0ABFED79-CEC8-A655-63F7-740A3DB183B7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F1BB6-74E4-92E9-C3C5-20CEA294873B}"/>
              </a:ext>
            </a:extLst>
          </p:cNvPr>
          <p:cNvSpPr txBox="1"/>
          <p:nvPr/>
        </p:nvSpPr>
        <p:spPr>
          <a:xfrm>
            <a:off x="394283" y="1720840"/>
            <a:ext cx="113251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9: Industry, Innovation and Infrastructure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promotes innovation by applying advanced mathematical optimization (Newton-Raphson) to improve traditional machine learning predictive models.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11: Sustainable Cities and Communities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house price prediction contributes to sustainable urban planning, equitable real estate markets, and better financial decision-making within communities.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7E56E8-4ED9-ED40-766D-689D5EF0F206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51232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510C-C431-C1A9-5AD7-90B54CB9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2D79AB4-B82E-274B-B394-67C78A51B8C5}"/>
              </a:ext>
            </a:extLst>
          </p:cNvPr>
          <p:cNvSpPr txBox="1"/>
          <p:nvPr/>
        </p:nvSpPr>
        <p:spPr>
          <a:xfrm>
            <a:off x="394283" y="413266"/>
            <a:ext cx="943761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4000" b="1" dirty="0">
                <a:solidFill>
                  <a:schemeClr val="bg1"/>
                </a:solidFill>
                <a:cs typeface="+mn-ea"/>
                <a:sym typeface="+mn-lt"/>
              </a:rPr>
              <a:t>References</a:t>
            </a:r>
            <a:r>
              <a:rPr lang="en-GB" altLang="zh-CN" sz="4000" b="1" dirty="0">
                <a:cs typeface="+mn-ea"/>
                <a:sym typeface="+mn-lt"/>
              </a:rPr>
              <a:t> </a:t>
            </a:r>
            <a:endParaRPr lang="zh-CN" altLang="en-US" sz="4000" b="1" dirty="0"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5445B84D-F404-7AB7-51F1-D10CE1CC2B03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1A8A1-AB27-9094-4211-522ED6D69326}"/>
              </a:ext>
            </a:extLst>
          </p:cNvPr>
          <p:cNvSpPr txBox="1"/>
          <p:nvPr/>
        </p:nvSpPr>
        <p:spPr>
          <a:xfrm>
            <a:off x="433432" y="1267835"/>
            <a:ext cx="1132513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"House Price Prediction using regression techniques," 2022 4th International Conference on Advances in Computing, Communication Control and Networking (ICAC3N), 2022.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https://ieeexplore.ieee.org/document/10074128/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"Newton-Raphson Consensus for Distributed Convex Optimization," IEEE Transactions on Automatic Control, 2016.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https://ieeexplore.ieee.org/document/7134753/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Python Software Foundation, "Python Documentation," Available: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https://docs.python.org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T. Hastie, R.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Friedman, The Elements of Statistical Learning, Springer, 2009.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Boyd and L. Vandenberghe, Convex Optimization, Cambridge University Press, 2004.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0D7E1C-DDDB-1031-13F4-BA2A4AE7A9A6}"/>
              </a:ext>
            </a:extLst>
          </p:cNvPr>
          <p:cNvSpPr txBox="1"/>
          <p:nvPr/>
        </p:nvSpPr>
        <p:spPr>
          <a:xfrm>
            <a:off x="5497920" y="6220270"/>
            <a:ext cx="1196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C34DD67-1F61-078D-B817-892569141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6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B4AEC3A-22F6-430C-BDE8-4342A5F1CA0C}"/>
              </a:ext>
            </a:extLst>
          </p:cNvPr>
          <p:cNvSpPr txBox="1"/>
          <p:nvPr/>
        </p:nvSpPr>
        <p:spPr>
          <a:xfrm>
            <a:off x="1835342" y="2767280"/>
            <a:ext cx="8521316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8000" b="1" dirty="0">
                <a:solidFill>
                  <a:schemeClr val="accent1"/>
                </a:solidFill>
                <a:cs typeface="+mn-ea"/>
                <a:sym typeface="+mn-lt"/>
              </a:rPr>
              <a:t>      Thank You</a:t>
            </a:r>
            <a:endParaRPr lang="zh-CN" altLang="en-US" sz="8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609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ww.jp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0etaf1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a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1361</TotalTime>
  <Words>1245</Words>
  <Application>Microsoft Office PowerPoint</Application>
  <PresentationFormat>Widescreen</PresentationFormat>
  <Paragraphs>160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等线</vt:lpstr>
      <vt:lpstr>微软雅黑</vt:lpstr>
      <vt:lpstr>Angsana New</vt:lpstr>
      <vt:lpstr>Arial</vt:lpstr>
      <vt:lpstr>Bookman Old Style</vt:lpstr>
      <vt:lpstr>Calisto MT</vt:lpstr>
      <vt:lpstr>Cascadia Code SemiBold</vt:lpstr>
      <vt:lpstr>Sylfaen</vt:lpstr>
      <vt:lpstr>Times New Roman</vt:lpstr>
      <vt:lpstr>Wingdings</vt:lpstr>
      <vt:lpstr>Wingdings 2</vt:lpstr>
      <vt:lpstr>www.jpppt.com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Lakshmi M R</dc:creator>
  <cp:lastModifiedBy>Ayush Yadav</cp:lastModifiedBy>
  <cp:revision>44</cp:revision>
  <dcterms:created xsi:type="dcterms:W3CDTF">2017-08-18T03:02:00Z</dcterms:created>
  <dcterms:modified xsi:type="dcterms:W3CDTF">2026-04-30T08:29:10Z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29a32c-a53b-47aa-9a3f-2a2bee8160ac_Enabled">
    <vt:lpwstr>true</vt:lpwstr>
  </property>
  <property fmtid="{D5CDD505-2E9C-101B-9397-08002B2CF9AE}" pid="3" name="MSIP_Label_da29a32c-a53b-47aa-9a3f-2a2bee8160ac_SetDate">
    <vt:lpwstr>2023-04-24T16:23:40Z</vt:lpwstr>
  </property>
  <property fmtid="{D5CDD505-2E9C-101B-9397-08002B2CF9AE}" pid="4" name="MSIP_Label_da29a32c-a53b-47aa-9a3f-2a2bee8160ac_Method">
    <vt:lpwstr>Privileged</vt:lpwstr>
  </property>
  <property fmtid="{D5CDD505-2E9C-101B-9397-08002B2CF9AE}" pid="5" name="MSIP_Label_da29a32c-a53b-47aa-9a3f-2a2bee8160ac_Name">
    <vt:lpwstr>Privatelabel</vt:lpwstr>
  </property>
  <property fmtid="{D5CDD505-2E9C-101B-9397-08002B2CF9AE}" pid="6" name="MSIP_Label_da29a32c-a53b-47aa-9a3f-2a2bee8160ac_SiteId">
    <vt:lpwstr>e7f10f6d-29dd-4a13-bcbd-035abd3d041c</vt:lpwstr>
  </property>
  <property fmtid="{D5CDD505-2E9C-101B-9397-08002B2CF9AE}" pid="7" name="MSIP_Label_da29a32c-a53b-47aa-9a3f-2a2bee8160ac_ActionId">
    <vt:lpwstr>9cc36502-e1bf-47ce-b3ba-341f4060ef14</vt:lpwstr>
  </property>
  <property fmtid="{D5CDD505-2E9C-101B-9397-08002B2CF9AE}" pid="8" name="MSIP_Label_da29a32c-a53b-47aa-9a3f-2a2bee8160ac_ContentBits">
    <vt:lpwstr>0</vt:lpwstr>
  </property>
</Properties>
</file>